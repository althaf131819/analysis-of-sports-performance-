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748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2854051" y="7767637"/>
            <a:ext cx="1776730" cy="457200"/>
          </a:xfrm>
          <a:custGeom>
            <a:avLst/>
            <a:gdLst/>
            <a:ahLst/>
            <a:cxnLst/>
            <a:rect l="l" t="t" r="r" b="b"/>
            <a:pathLst>
              <a:path w="1776730" h="457200">
                <a:moveTo>
                  <a:pt x="1776349" y="0"/>
                </a:moveTo>
                <a:lnTo>
                  <a:pt x="0" y="0"/>
                </a:lnTo>
                <a:lnTo>
                  <a:pt x="0" y="457200"/>
                </a:lnTo>
                <a:lnTo>
                  <a:pt x="1776349" y="457200"/>
                </a:lnTo>
                <a:lnTo>
                  <a:pt x="17763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854051" y="7767637"/>
            <a:ext cx="1776730" cy="457200"/>
          </a:xfrm>
          <a:custGeom>
            <a:avLst/>
            <a:gdLst/>
            <a:ahLst/>
            <a:cxnLst/>
            <a:rect l="l" t="t" r="r" b="b"/>
            <a:pathLst>
              <a:path w="1776730" h="457200">
                <a:moveTo>
                  <a:pt x="1776349" y="0"/>
                </a:moveTo>
                <a:lnTo>
                  <a:pt x="0" y="0"/>
                </a:lnTo>
                <a:lnTo>
                  <a:pt x="0" y="457200"/>
                </a:lnTo>
                <a:lnTo>
                  <a:pt x="1776349" y="4572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3329" y="345058"/>
            <a:ext cx="7063740" cy="867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19" y="2256472"/>
            <a:ext cx="13700760" cy="413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3" name="object 3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27428" y="2794634"/>
            <a:ext cx="11729085" cy="1456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94225" marR="5080" indent="-4582160">
              <a:lnSpc>
                <a:spcPct val="106700"/>
              </a:lnSpc>
              <a:spcBef>
                <a:spcPts val="90"/>
              </a:spcBef>
            </a:pPr>
            <a:r>
              <a:rPr sz="4400" b="0" dirty="0">
                <a:solidFill>
                  <a:srgbClr val="843B0C"/>
                </a:solidFill>
                <a:latin typeface="Times New Roman"/>
                <a:cs typeface="Times New Roman"/>
              </a:rPr>
              <a:t>Analysis</a:t>
            </a:r>
            <a:r>
              <a:rPr sz="4400" b="0" spc="50" dirty="0">
                <a:solidFill>
                  <a:srgbClr val="843B0C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843B0C"/>
                </a:solidFill>
                <a:latin typeface="Times New Roman"/>
                <a:cs typeface="Times New Roman"/>
              </a:rPr>
              <a:t>of</a:t>
            </a:r>
            <a:r>
              <a:rPr sz="4400" b="0" spc="90" dirty="0">
                <a:solidFill>
                  <a:srgbClr val="843B0C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843B0C"/>
                </a:solidFill>
                <a:latin typeface="Times New Roman"/>
                <a:cs typeface="Times New Roman"/>
              </a:rPr>
              <a:t>Sports</a:t>
            </a:r>
            <a:r>
              <a:rPr sz="4400" b="0" spc="60" dirty="0">
                <a:solidFill>
                  <a:srgbClr val="843B0C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843B0C"/>
                </a:solidFill>
                <a:latin typeface="Times New Roman"/>
                <a:cs typeface="Times New Roman"/>
              </a:rPr>
              <a:t>Performance</a:t>
            </a:r>
            <a:r>
              <a:rPr sz="4400" b="0" spc="45" dirty="0">
                <a:solidFill>
                  <a:srgbClr val="843B0C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843B0C"/>
                </a:solidFill>
                <a:latin typeface="Times New Roman"/>
                <a:cs typeface="Times New Roman"/>
              </a:rPr>
              <a:t>and</a:t>
            </a:r>
            <a:r>
              <a:rPr sz="4400" b="0" spc="25" dirty="0">
                <a:solidFill>
                  <a:srgbClr val="843B0C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843B0C"/>
                </a:solidFill>
                <a:latin typeface="Times New Roman"/>
                <a:cs typeface="Times New Roman"/>
              </a:rPr>
              <a:t>Medal</a:t>
            </a:r>
            <a:r>
              <a:rPr sz="4400" b="0" spc="35" dirty="0">
                <a:solidFill>
                  <a:srgbClr val="843B0C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843B0C"/>
                </a:solidFill>
                <a:latin typeface="Times New Roman"/>
                <a:cs typeface="Times New Roman"/>
              </a:rPr>
              <a:t>Patterns </a:t>
            </a:r>
            <a:r>
              <a:rPr sz="4400" b="0" dirty="0">
                <a:solidFill>
                  <a:srgbClr val="843B0C"/>
                </a:solidFill>
                <a:latin typeface="Times New Roman"/>
                <a:cs typeface="Times New Roman"/>
              </a:rPr>
              <a:t>Using</a:t>
            </a:r>
            <a:r>
              <a:rPr sz="4400" b="0" spc="75" dirty="0">
                <a:solidFill>
                  <a:srgbClr val="843B0C"/>
                </a:solidFill>
                <a:latin typeface="Times New Roman"/>
                <a:cs typeface="Times New Roman"/>
              </a:rPr>
              <a:t> </a:t>
            </a:r>
            <a:r>
              <a:rPr sz="4400" b="0" spc="-25" dirty="0">
                <a:solidFill>
                  <a:srgbClr val="843B0C"/>
                </a:solidFill>
                <a:latin typeface="Times New Roman"/>
                <a:cs typeface="Times New Roman"/>
              </a:rPr>
              <a:t>SQL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9054" y="431560"/>
            <a:ext cx="10982070" cy="179435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3882" y="5561647"/>
            <a:ext cx="6681470" cy="111415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27100" marR="3463290" indent="-915035">
              <a:lnSpc>
                <a:spcPct val="100800"/>
              </a:lnSpc>
              <a:spcBef>
                <a:spcPts val="85"/>
              </a:spcBef>
            </a:pPr>
            <a:r>
              <a:rPr b="1" dirty="0" smtClean="0">
                <a:latin typeface="Times New Roman"/>
                <a:cs typeface="Times New Roman"/>
              </a:rPr>
              <a:t>NAME</a:t>
            </a:r>
            <a:r>
              <a:rPr b="1" spc="-15" dirty="0" smtClean="0">
                <a:latin typeface="Times New Roman"/>
                <a:cs typeface="Times New Roman"/>
              </a:rPr>
              <a:t> </a:t>
            </a:r>
            <a:r>
              <a:rPr b="1" dirty="0" smtClean="0">
                <a:latin typeface="Times New Roman"/>
                <a:cs typeface="Times New Roman"/>
              </a:rPr>
              <a:t>:</a:t>
            </a:r>
            <a:r>
              <a:rPr b="1" spc="-85" dirty="0" smtClean="0">
                <a:latin typeface="Times New Roman"/>
                <a:cs typeface="Times New Roman"/>
              </a:rPr>
              <a:t> </a:t>
            </a:r>
            <a:r>
              <a:rPr dirty="0" smtClean="0">
                <a:latin typeface="Times New Roman"/>
                <a:cs typeface="Times New Roman"/>
              </a:rPr>
              <a:t>A</a:t>
            </a:r>
            <a:r>
              <a:rPr spc="-175" dirty="0" smtClean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Yogendra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(192521253) </a:t>
            </a:r>
            <a:r>
              <a:rPr dirty="0" smtClean="0">
                <a:latin typeface="Times New Roman"/>
                <a:cs typeface="Times New Roman"/>
              </a:rPr>
              <a:t>M</a:t>
            </a:r>
            <a:r>
              <a:rPr spc="-105" dirty="0" smtClean="0">
                <a:latin typeface="Times New Roman"/>
                <a:cs typeface="Times New Roman"/>
              </a:rPr>
              <a:t> </a:t>
            </a:r>
            <a:r>
              <a:rPr spc="-10" dirty="0" err="1" smtClean="0">
                <a:latin typeface="Times New Roman"/>
                <a:cs typeface="Times New Roman"/>
              </a:rPr>
              <a:t>Asrith</a:t>
            </a:r>
            <a:r>
              <a:rPr spc="-10" dirty="0" smtClean="0">
                <a:latin typeface="Times New Roman"/>
                <a:cs typeface="Times New Roman"/>
              </a:rPr>
              <a:t>(192521232</a:t>
            </a:r>
            <a:r>
              <a:rPr spc="-10" dirty="0">
                <a:latin typeface="Times New Roman"/>
                <a:cs typeface="Times New Roman"/>
              </a:rPr>
              <a:t>)</a:t>
            </a:r>
            <a:endParaRPr dirty="0">
              <a:latin typeface="Times New Roman"/>
              <a:cs typeface="Times New Roman"/>
            </a:endParaRPr>
          </a:p>
          <a:p>
            <a:pPr marL="927100" marR="3646804">
              <a:lnSpc>
                <a:spcPct val="100800"/>
              </a:lnSpc>
            </a:pPr>
            <a:r>
              <a:rPr dirty="0">
                <a:latin typeface="Times New Roman"/>
                <a:cs typeface="Times New Roman"/>
              </a:rPr>
              <a:t>M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Tharun(192521278) </a:t>
            </a:r>
            <a:r>
              <a:rPr dirty="0" smtClean="0">
                <a:latin typeface="Times New Roman"/>
                <a:cs typeface="Times New Roman"/>
              </a:rPr>
              <a:t>A</a:t>
            </a:r>
            <a:r>
              <a:rPr spc="250" dirty="0" smtClean="0">
                <a:latin typeface="Times New Roman"/>
                <a:cs typeface="Times New Roman"/>
              </a:rPr>
              <a:t> </a:t>
            </a:r>
            <a:r>
              <a:rPr spc="-10" dirty="0" err="1" smtClean="0">
                <a:latin typeface="Times New Roman"/>
                <a:cs typeface="Times New Roman"/>
              </a:rPr>
              <a:t>Althaf</a:t>
            </a:r>
            <a:r>
              <a:rPr spc="-10" dirty="0" smtClean="0">
                <a:latin typeface="Times New Roman"/>
                <a:cs typeface="Times New Roman"/>
              </a:rPr>
              <a:t>(192521257</a:t>
            </a:r>
            <a:r>
              <a:rPr sz="1800" spc="-10" dirty="0" smtClean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12680" y="5598223"/>
            <a:ext cx="1788160" cy="9448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/>
                <a:cs typeface="Times New Roman"/>
              </a:rPr>
              <a:t>GUIDE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NAME: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Dr.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Rashmitha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Dr.Poorani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662"/>
            <a:ext cx="13700760" cy="6824945"/>
          </a:xfrm>
        </p:spPr>
        <p:txBody>
          <a:bodyPr/>
          <a:lstStyle/>
          <a:p>
            <a:pPr algn="ctr"/>
            <a:r>
              <a:rPr lang="en-US" sz="3200" b="1" dirty="0" smtClean="0"/>
              <a:t>AGENDA</a:t>
            </a:r>
            <a:endParaRPr lang="en-IN" sz="3200" b="1" dirty="0"/>
          </a:p>
          <a:p>
            <a:pPr algn="ctr"/>
            <a:endParaRPr lang="en-US" b="1" dirty="0" smtClean="0"/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 smtClean="0"/>
              <a:t>Abstract.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 smtClean="0"/>
              <a:t>Introduction.</a:t>
            </a:r>
            <a:endParaRPr lang="en-IN" sz="3200" dirty="0" smtClean="0"/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 smtClean="0"/>
              <a:t>Problem</a:t>
            </a:r>
            <a:r>
              <a:rPr lang="en-IN" sz="3200" spc="-110" dirty="0" smtClean="0"/>
              <a:t> </a:t>
            </a:r>
            <a:r>
              <a:rPr lang="en-IN" sz="3200" dirty="0"/>
              <a:t>Identification</a:t>
            </a:r>
            <a:r>
              <a:rPr lang="en-IN" sz="3200" spc="-85" dirty="0"/>
              <a:t> </a:t>
            </a:r>
            <a:r>
              <a:rPr lang="en-IN" sz="3200" dirty="0"/>
              <a:t>and</a:t>
            </a:r>
            <a:r>
              <a:rPr lang="en-IN" sz="3200" spc="-200" dirty="0"/>
              <a:t> </a:t>
            </a:r>
            <a:r>
              <a:rPr lang="en-IN" sz="3200" spc="-10" dirty="0" smtClean="0"/>
              <a:t>Analysis.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spc="-10" dirty="0" smtClean="0"/>
              <a:t>ER Diagram.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spc="-10" dirty="0" smtClean="0"/>
              <a:t>Modules.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spc="-10" dirty="0" smtClean="0"/>
              <a:t>Analysis of data.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spc="-20" dirty="0" smtClean="0"/>
              <a:t>Implemented Analysis output. </a:t>
            </a:r>
            <a:endParaRPr lang="en-IN" sz="3200" spc="-10" dirty="0" smtClean="0"/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spc="-10" dirty="0" smtClean="0"/>
              <a:t>Conclusion.</a:t>
            </a:r>
            <a:endParaRPr lang="en-IN" sz="3200" dirty="0"/>
          </a:p>
        </p:txBody>
      </p:sp>
      <p:grpSp>
        <p:nvGrpSpPr>
          <p:cNvPr id="4" name="object 2"/>
          <p:cNvGrpSpPr/>
          <p:nvPr/>
        </p:nvGrpSpPr>
        <p:grpSpPr>
          <a:xfrm>
            <a:off x="12840970" y="7759700"/>
            <a:ext cx="1789430" cy="469900"/>
            <a:chOff x="12847701" y="7761287"/>
            <a:chExt cx="1789430" cy="469900"/>
          </a:xfrm>
        </p:grpSpPr>
        <p:sp>
          <p:nvSpPr>
            <p:cNvPr id="5" name="object 3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5316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40970" y="7759700"/>
            <a:ext cx="1789430" cy="469900"/>
            <a:chOff x="12847701" y="7761287"/>
            <a:chExt cx="1789430" cy="469900"/>
          </a:xfrm>
        </p:grpSpPr>
        <p:sp>
          <p:nvSpPr>
            <p:cNvPr id="3" name="object 3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87069" y="1945131"/>
            <a:ext cx="12988925" cy="442150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athlete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database-</a:t>
            </a:r>
            <a:r>
              <a:rPr sz="2400" dirty="0">
                <a:latin typeface="Times New Roman"/>
                <a:cs typeface="Times New Roman"/>
              </a:rPr>
              <a:t>driven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approach.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efficiently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MySQL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435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SQL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queries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insights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 medal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year,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top-</a:t>
            </a:r>
            <a:r>
              <a:rPr sz="2400" dirty="0">
                <a:latin typeface="Times New Roman"/>
                <a:cs typeface="Times New Roman"/>
              </a:rPr>
              <a:t>performing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athletes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countries,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gender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participation.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Python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utilized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Streamlit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interactive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dashboard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analytics </a:t>
            </a:r>
            <a:r>
              <a:rPr sz="2400" spc="-10" dirty="0">
                <a:latin typeface="Times New Roman"/>
                <a:cs typeface="Times New Roman"/>
              </a:rPr>
              <a:t>results.</a:t>
            </a:r>
            <a:endParaRPr sz="2400">
              <a:latin typeface="Times New Roman"/>
              <a:cs typeface="Times New Roman"/>
            </a:endParaRPr>
          </a:p>
          <a:p>
            <a:pPr marL="354965" marR="323215" indent="-342900">
              <a:lnSpc>
                <a:spcPct val="148600"/>
              </a:lnSpc>
              <a:spcBef>
                <a:spcPts val="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manual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accuracy,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enables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data-</a:t>
            </a:r>
            <a:r>
              <a:rPr sz="2400" dirty="0">
                <a:latin typeface="Times New Roman"/>
                <a:cs typeface="Times New Roman"/>
              </a:rPr>
              <a:t>driven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analytics.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47625"/>
            <a:ext cx="800100" cy="990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3" name="object 3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47625"/>
            <a:ext cx="800100" cy="990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6654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5535" y="1671002"/>
            <a:ext cx="11336020" cy="585533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55600" marR="5080" indent="-342900">
              <a:lnSpc>
                <a:spcPts val="2850"/>
              </a:lnSpc>
              <a:spcBef>
                <a:spcPts val="22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demonstrates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(DBMS)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Analytics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Visualization.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easily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statistics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like: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414655" indent="-401955">
              <a:lnSpc>
                <a:spcPct val="100000"/>
              </a:lnSpc>
              <a:buFont typeface="Arial MT"/>
              <a:buChar char="•"/>
              <a:tabLst>
                <a:tab pos="414655" algn="l"/>
              </a:tabLst>
            </a:pPr>
            <a:r>
              <a:rPr sz="2400" dirty="0">
                <a:latin typeface="Times New Roman"/>
                <a:cs typeface="Times New Roman"/>
              </a:rPr>
              <a:t>Athletes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gender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Medals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year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Top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athletes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countries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marR="768985" indent="-342900">
              <a:lnSpc>
                <a:spcPts val="286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Olympic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athlete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database- </a:t>
            </a:r>
            <a:r>
              <a:rPr sz="2400" dirty="0">
                <a:latin typeface="Times New Roman"/>
                <a:cs typeface="Times New Roman"/>
              </a:rPr>
              <a:t>driven </a:t>
            </a:r>
            <a:r>
              <a:rPr sz="2400" spc="-10" dirty="0">
                <a:latin typeface="Times New Roman"/>
                <a:cs typeface="Times New Roman"/>
              </a:rPr>
              <a:t>approach.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marR="1245870" indent="-342900">
              <a:lnSpc>
                <a:spcPts val="286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historical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MySQL </a:t>
            </a:r>
            <a:r>
              <a:rPr sz="2400" dirty="0">
                <a:latin typeface="Times New Roman"/>
                <a:cs typeface="Times New Roman"/>
              </a:rPr>
              <a:t>relational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3" name="object 3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10" dirty="0"/>
              <a:t> </a:t>
            </a:r>
            <a:r>
              <a:rPr dirty="0"/>
              <a:t>Identification</a:t>
            </a:r>
            <a:r>
              <a:rPr spc="-85" dirty="0"/>
              <a:t> </a:t>
            </a:r>
            <a:r>
              <a:rPr dirty="0"/>
              <a:t>and</a:t>
            </a:r>
            <a:r>
              <a:rPr spc="-20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62355" y="2077656"/>
            <a:ext cx="11735435" cy="51504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5600" marR="323215" indent="-342900">
              <a:lnSpc>
                <a:spcPts val="2860"/>
              </a:lnSpc>
              <a:spcBef>
                <a:spcPts val="2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Olympic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difficult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analyze directly.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Manual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athlete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medal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trends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time-</a:t>
            </a:r>
            <a:r>
              <a:rPr sz="2400" dirty="0">
                <a:latin typeface="Times New Roman"/>
                <a:cs typeface="Times New Roman"/>
              </a:rPr>
              <a:t>consuming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error-</a:t>
            </a:r>
            <a:r>
              <a:rPr sz="2400" spc="-10" dirty="0">
                <a:latin typeface="Times New Roman"/>
                <a:cs typeface="Times New Roman"/>
              </a:rPr>
              <a:t>prone.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raw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normalized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format,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querying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inefficient.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marR="198755" indent="-342900">
              <a:lnSpc>
                <a:spcPts val="285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Extracting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insights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distribution,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athlete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participation,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trends </a:t>
            </a:r>
            <a:r>
              <a:rPr sz="2400" dirty="0">
                <a:latin typeface="Times New Roman"/>
                <a:cs typeface="Times New Roman"/>
              </a:rPr>
              <a:t>requires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processing.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reports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interactive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exploration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marR="1304290" indent="-342900">
              <a:lnSpc>
                <a:spcPts val="285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efficiently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sports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082" rIns="0" bIns="0" rtlCol="0">
            <a:spAutoFit/>
          </a:bodyPr>
          <a:lstStyle/>
          <a:p>
            <a:pPr marL="2185670">
              <a:lnSpc>
                <a:spcPct val="100000"/>
              </a:lnSpc>
              <a:spcBef>
                <a:spcPts val="125"/>
              </a:spcBef>
            </a:pPr>
            <a:r>
              <a:rPr dirty="0"/>
              <a:t>ER</a:t>
            </a:r>
            <a:r>
              <a:rPr spc="-4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5050" y="1181100"/>
            <a:ext cx="10001250" cy="6581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5" name="object 5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7" rIns="0" bIns="0" rtlCol="0">
            <a:spAutoFit/>
          </a:bodyPr>
          <a:lstStyle/>
          <a:p>
            <a:pPr marL="25076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MODULES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6143619" y="4867121"/>
            <a:ext cx="7644130" cy="1681480"/>
            <a:chOff x="6143619" y="4867121"/>
            <a:chExt cx="7644130" cy="16814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3619" y="4867121"/>
              <a:ext cx="7643887" cy="16812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0775" y="4905375"/>
              <a:ext cx="7534275" cy="157162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532376" y="2913126"/>
            <a:ext cx="6880225" cy="1698625"/>
            <a:chOff x="4532376" y="2913126"/>
            <a:chExt cx="6880225" cy="1698625"/>
          </a:xfrm>
        </p:grpSpPr>
        <p:sp>
          <p:nvSpPr>
            <p:cNvPr id="12" name="object 12"/>
            <p:cNvSpPr/>
            <p:nvPr/>
          </p:nvSpPr>
          <p:spPr>
            <a:xfrm>
              <a:off x="4538726" y="2919476"/>
              <a:ext cx="6867525" cy="1685925"/>
            </a:xfrm>
            <a:custGeom>
              <a:avLst/>
              <a:gdLst/>
              <a:ahLst/>
              <a:cxnLst/>
              <a:rect l="l" t="t" r="r" b="b"/>
              <a:pathLst>
                <a:path w="6867525" h="1685925">
                  <a:moveTo>
                    <a:pt x="6586474" y="0"/>
                  </a:moveTo>
                  <a:lnTo>
                    <a:pt x="280924" y="0"/>
                  </a:lnTo>
                  <a:lnTo>
                    <a:pt x="235345" y="3675"/>
                  </a:lnTo>
                  <a:lnTo>
                    <a:pt x="192113" y="14317"/>
                  </a:lnTo>
                  <a:lnTo>
                    <a:pt x="151803" y="31347"/>
                  </a:lnTo>
                  <a:lnTo>
                    <a:pt x="114994" y="54189"/>
                  </a:lnTo>
                  <a:lnTo>
                    <a:pt x="82264" y="82264"/>
                  </a:lnTo>
                  <a:lnTo>
                    <a:pt x="54189" y="114994"/>
                  </a:lnTo>
                  <a:lnTo>
                    <a:pt x="31347" y="151803"/>
                  </a:lnTo>
                  <a:lnTo>
                    <a:pt x="14317" y="192113"/>
                  </a:lnTo>
                  <a:lnTo>
                    <a:pt x="3675" y="235345"/>
                  </a:lnTo>
                  <a:lnTo>
                    <a:pt x="0" y="280924"/>
                  </a:lnTo>
                  <a:lnTo>
                    <a:pt x="0" y="1404874"/>
                  </a:lnTo>
                  <a:lnTo>
                    <a:pt x="3675" y="1450455"/>
                  </a:lnTo>
                  <a:lnTo>
                    <a:pt x="14317" y="1493697"/>
                  </a:lnTo>
                  <a:lnTo>
                    <a:pt x="31347" y="1534021"/>
                  </a:lnTo>
                  <a:lnTo>
                    <a:pt x="54189" y="1570847"/>
                  </a:lnTo>
                  <a:lnTo>
                    <a:pt x="82264" y="1603597"/>
                  </a:lnTo>
                  <a:lnTo>
                    <a:pt x="114994" y="1631690"/>
                  </a:lnTo>
                  <a:lnTo>
                    <a:pt x="151803" y="1654549"/>
                  </a:lnTo>
                  <a:lnTo>
                    <a:pt x="192113" y="1671594"/>
                  </a:lnTo>
                  <a:lnTo>
                    <a:pt x="235345" y="1682245"/>
                  </a:lnTo>
                  <a:lnTo>
                    <a:pt x="280924" y="1685925"/>
                  </a:lnTo>
                  <a:lnTo>
                    <a:pt x="6586474" y="1685925"/>
                  </a:lnTo>
                  <a:lnTo>
                    <a:pt x="6632055" y="1682245"/>
                  </a:lnTo>
                  <a:lnTo>
                    <a:pt x="6675297" y="1671594"/>
                  </a:lnTo>
                  <a:lnTo>
                    <a:pt x="6715621" y="1654549"/>
                  </a:lnTo>
                  <a:lnTo>
                    <a:pt x="6752447" y="1631690"/>
                  </a:lnTo>
                  <a:lnTo>
                    <a:pt x="6785197" y="1603597"/>
                  </a:lnTo>
                  <a:lnTo>
                    <a:pt x="6813290" y="1570847"/>
                  </a:lnTo>
                  <a:lnTo>
                    <a:pt x="6836149" y="1534021"/>
                  </a:lnTo>
                  <a:lnTo>
                    <a:pt x="6853194" y="1493697"/>
                  </a:lnTo>
                  <a:lnTo>
                    <a:pt x="6863845" y="1450455"/>
                  </a:lnTo>
                  <a:lnTo>
                    <a:pt x="6867525" y="1404874"/>
                  </a:lnTo>
                  <a:lnTo>
                    <a:pt x="6867525" y="280924"/>
                  </a:lnTo>
                  <a:lnTo>
                    <a:pt x="6863845" y="235345"/>
                  </a:lnTo>
                  <a:lnTo>
                    <a:pt x="6853194" y="192113"/>
                  </a:lnTo>
                  <a:lnTo>
                    <a:pt x="6836149" y="151803"/>
                  </a:lnTo>
                  <a:lnTo>
                    <a:pt x="6813290" y="114994"/>
                  </a:lnTo>
                  <a:lnTo>
                    <a:pt x="6785197" y="82264"/>
                  </a:lnTo>
                  <a:lnTo>
                    <a:pt x="6752447" y="54189"/>
                  </a:lnTo>
                  <a:lnTo>
                    <a:pt x="6715621" y="31347"/>
                  </a:lnTo>
                  <a:lnTo>
                    <a:pt x="6675297" y="14317"/>
                  </a:lnTo>
                  <a:lnTo>
                    <a:pt x="6632055" y="3675"/>
                  </a:lnTo>
                  <a:lnTo>
                    <a:pt x="658647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38726" y="2919476"/>
              <a:ext cx="6867525" cy="1685925"/>
            </a:xfrm>
            <a:custGeom>
              <a:avLst/>
              <a:gdLst/>
              <a:ahLst/>
              <a:cxnLst/>
              <a:rect l="l" t="t" r="r" b="b"/>
              <a:pathLst>
                <a:path w="6867525" h="1685925">
                  <a:moveTo>
                    <a:pt x="0" y="280924"/>
                  </a:moveTo>
                  <a:lnTo>
                    <a:pt x="3675" y="235345"/>
                  </a:lnTo>
                  <a:lnTo>
                    <a:pt x="14317" y="192113"/>
                  </a:lnTo>
                  <a:lnTo>
                    <a:pt x="31347" y="151803"/>
                  </a:lnTo>
                  <a:lnTo>
                    <a:pt x="54189" y="114994"/>
                  </a:lnTo>
                  <a:lnTo>
                    <a:pt x="82264" y="82264"/>
                  </a:lnTo>
                  <a:lnTo>
                    <a:pt x="114994" y="54189"/>
                  </a:lnTo>
                  <a:lnTo>
                    <a:pt x="151803" y="31347"/>
                  </a:lnTo>
                  <a:lnTo>
                    <a:pt x="192113" y="14317"/>
                  </a:lnTo>
                  <a:lnTo>
                    <a:pt x="235345" y="3675"/>
                  </a:lnTo>
                  <a:lnTo>
                    <a:pt x="280924" y="0"/>
                  </a:lnTo>
                  <a:lnTo>
                    <a:pt x="6586474" y="0"/>
                  </a:lnTo>
                  <a:lnTo>
                    <a:pt x="6632055" y="3675"/>
                  </a:lnTo>
                  <a:lnTo>
                    <a:pt x="6675297" y="14317"/>
                  </a:lnTo>
                  <a:lnTo>
                    <a:pt x="6715621" y="31347"/>
                  </a:lnTo>
                  <a:lnTo>
                    <a:pt x="6752447" y="54189"/>
                  </a:lnTo>
                  <a:lnTo>
                    <a:pt x="6785197" y="82264"/>
                  </a:lnTo>
                  <a:lnTo>
                    <a:pt x="6813290" y="114994"/>
                  </a:lnTo>
                  <a:lnTo>
                    <a:pt x="6836149" y="151803"/>
                  </a:lnTo>
                  <a:lnTo>
                    <a:pt x="6853194" y="192113"/>
                  </a:lnTo>
                  <a:lnTo>
                    <a:pt x="6863845" y="235345"/>
                  </a:lnTo>
                  <a:lnTo>
                    <a:pt x="6867525" y="280924"/>
                  </a:lnTo>
                  <a:lnTo>
                    <a:pt x="6867525" y="1404874"/>
                  </a:lnTo>
                  <a:lnTo>
                    <a:pt x="6863845" y="1450455"/>
                  </a:lnTo>
                  <a:lnTo>
                    <a:pt x="6853194" y="1493697"/>
                  </a:lnTo>
                  <a:lnTo>
                    <a:pt x="6836149" y="1534021"/>
                  </a:lnTo>
                  <a:lnTo>
                    <a:pt x="6813290" y="1570847"/>
                  </a:lnTo>
                  <a:lnTo>
                    <a:pt x="6785197" y="1603597"/>
                  </a:lnTo>
                  <a:lnTo>
                    <a:pt x="6752447" y="1631690"/>
                  </a:lnTo>
                  <a:lnTo>
                    <a:pt x="6715621" y="1654549"/>
                  </a:lnTo>
                  <a:lnTo>
                    <a:pt x="6675297" y="1671594"/>
                  </a:lnTo>
                  <a:lnTo>
                    <a:pt x="6632055" y="1682245"/>
                  </a:lnTo>
                  <a:lnTo>
                    <a:pt x="6586474" y="1685925"/>
                  </a:lnTo>
                  <a:lnTo>
                    <a:pt x="280924" y="1685925"/>
                  </a:lnTo>
                  <a:lnTo>
                    <a:pt x="235345" y="1682245"/>
                  </a:lnTo>
                  <a:lnTo>
                    <a:pt x="192113" y="1671594"/>
                  </a:lnTo>
                  <a:lnTo>
                    <a:pt x="151803" y="1654549"/>
                  </a:lnTo>
                  <a:lnTo>
                    <a:pt x="114994" y="1631690"/>
                  </a:lnTo>
                  <a:lnTo>
                    <a:pt x="82264" y="1603597"/>
                  </a:lnTo>
                  <a:lnTo>
                    <a:pt x="54189" y="1570847"/>
                  </a:lnTo>
                  <a:lnTo>
                    <a:pt x="31347" y="1534021"/>
                  </a:lnTo>
                  <a:lnTo>
                    <a:pt x="14317" y="1493697"/>
                  </a:lnTo>
                  <a:lnTo>
                    <a:pt x="3675" y="1450455"/>
                  </a:lnTo>
                  <a:lnTo>
                    <a:pt x="0" y="1404874"/>
                  </a:lnTo>
                  <a:lnTo>
                    <a:pt x="0" y="280924"/>
                  </a:lnTo>
                  <a:close/>
                </a:path>
              </a:pathLst>
            </a:custGeom>
            <a:ln w="12700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22237" y="1112900"/>
            <a:ext cx="7319009" cy="1698625"/>
            <a:chOff x="122237" y="1112900"/>
            <a:chExt cx="7319009" cy="1698625"/>
          </a:xfrm>
        </p:grpSpPr>
        <p:sp>
          <p:nvSpPr>
            <p:cNvPr id="15" name="object 15"/>
            <p:cNvSpPr/>
            <p:nvPr/>
          </p:nvSpPr>
          <p:spPr>
            <a:xfrm>
              <a:off x="128587" y="1119250"/>
              <a:ext cx="7306309" cy="1685925"/>
            </a:xfrm>
            <a:custGeom>
              <a:avLst/>
              <a:gdLst/>
              <a:ahLst/>
              <a:cxnLst/>
              <a:rect l="l" t="t" r="r" b="b"/>
              <a:pathLst>
                <a:path w="7306309" h="1685925">
                  <a:moveTo>
                    <a:pt x="7024687" y="0"/>
                  </a:moveTo>
                  <a:lnTo>
                    <a:pt x="281000" y="0"/>
                  </a:lnTo>
                  <a:lnTo>
                    <a:pt x="235420" y="3675"/>
                  </a:lnTo>
                  <a:lnTo>
                    <a:pt x="192181" y="14317"/>
                  </a:lnTo>
                  <a:lnTo>
                    <a:pt x="151863" y="31347"/>
                  </a:lnTo>
                  <a:lnTo>
                    <a:pt x="115044" y="54189"/>
                  </a:lnTo>
                  <a:lnTo>
                    <a:pt x="82302" y="82264"/>
                  </a:lnTo>
                  <a:lnTo>
                    <a:pt x="54216" y="114994"/>
                  </a:lnTo>
                  <a:lnTo>
                    <a:pt x="31364" y="151803"/>
                  </a:lnTo>
                  <a:lnTo>
                    <a:pt x="14325" y="192113"/>
                  </a:lnTo>
                  <a:lnTo>
                    <a:pt x="3677" y="235345"/>
                  </a:lnTo>
                  <a:lnTo>
                    <a:pt x="0" y="280924"/>
                  </a:lnTo>
                  <a:lnTo>
                    <a:pt x="0" y="1404874"/>
                  </a:lnTo>
                  <a:lnTo>
                    <a:pt x="3677" y="1450455"/>
                  </a:lnTo>
                  <a:lnTo>
                    <a:pt x="14325" y="1493697"/>
                  </a:lnTo>
                  <a:lnTo>
                    <a:pt x="31364" y="1534021"/>
                  </a:lnTo>
                  <a:lnTo>
                    <a:pt x="54216" y="1570847"/>
                  </a:lnTo>
                  <a:lnTo>
                    <a:pt x="82302" y="1603597"/>
                  </a:lnTo>
                  <a:lnTo>
                    <a:pt x="115044" y="1631690"/>
                  </a:lnTo>
                  <a:lnTo>
                    <a:pt x="151863" y="1654549"/>
                  </a:lnTo>
                  <a:lnTo>
                    <a:pt x="192181" y="1671594"/>
                  </a:lnTo>
                  <a:lnTo>
                    <a:pt x="235420" y="1682245"/>
                  </a:lnTo>
                  <a:lnTo>
                    <a:pt x="281000" y="1685925"/>
                  </a:lnTo>
                  <a:lnTo>
                    <a:pt x="7024687" y="1685925"/>
                  </a:lnTo>
                  <a:lnTo>
                    <a:pt x="7070269" y="1682245"/>
                  </a:lnTo>
                  <a:lnTo>
                    <a:pt x="7113511" y="1671594"/>
                  </a:lnTo>
                  <a:lnTo>
                    <a:pt x="7153835" y="1654549"/>
                  </a:lnTo>
                  <a:lnTo>
                    <a:pt x="7190661" y="1631690"/>
                  </a:lnTo>
                  <a:lnTo>
                    <a:pt x="7223410" y="1603597"/>
                  </a:lnTo>
                  <a:lnTo>
                    <a:pt x="7251504" y="1570847"/>
                  </a:lnTo>
                  <a:lnTo>
                    <a:pt x="7274363" y="1534021"/>
                  </a:lnTo>
                  <a:lnTo>
                    <a:pt x="7291407" y="1493697"/>
                  </a:lnTo>
                  <a:lnTo>
                    <a:pt x="7302059" y="1450455"/>
                  </a:lnTo>
                  <a:lnTo>
                    <a:pt x="7305738" y="1404874"/>
                  </a:lnTo>
                  <a:lnTo>
                    <a:pt x="7305738" y="280924"/>
                  </a:lnTo>
                  <a:lnTo>
                    <a:pt x="7302059" y="235345"/>
                  </a:lnTo>
                  <a:lnTo>
                    <a:pt x="7291407" y="192113"/>
                  </a:lnTo>
                  <a:lnTo>
                    <a:pt x="7274363" y="151803"/>
                  </a:lnTo>
                  <a:lnTo>
                    <a:pt x="7251504" y="114994"/>
                  </a:lnTo>
                  <a:lnTo>
                    <a:pt x="7223410" y="82264"/>
                  </a:lnTo>
                  <a:lnTo>
                    <a:pt x="7190661" y="54189"/>
                  </a:lnTo>
                  <a:lnTo>
                    <a:pt x="7153835" y="31347"/>
                  </a:lnTo>
                  <a:lnTo>
                    <a:pt x="7113511" y="14317"/>
                  </a:lnTo>
                  <a:lnTo>
                    <a:pt x="7070269" y="3675"/>
                  </a:lnTo>
                  <a:lnTo>
                    <a:pt x="7024687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8587" y="1119250"/>
              <a:ext cx="7306309" cy="1685925"/>
            </a:xfrm>
            <a:custGeom>
              <a:avLst/>
              <a:gdLst/>
              <a:ahLst/>
              <a:cxnLst/>
              <a:rect l="l" t="t" r="r" b="b"/>
              <a:pathLst>
                <a:path w="7306309" h="1685925">
                  <a:moveTo>
                    <a:pt x="0" y="280924"/>
                  </a:moveTo>
                  <a:lnTo>
                    <a:pt x="3677" y="235345"/>
                  </a:lnTo>
                  <a:lnTo>
                    <a:pt x="14325" y="192113"/>
                  </a:lnTo>
                  <a:lnTo>
                    <a:pt x="31364" y="151803"/>
                  </a:lnTo>
                  <a:lnTo>
                    <a:pt x="54216" y="114994"/>
                  </a:lnTo>
                  <a:lnTo>
                    <a:pt x="82302" y="82264"/>
                  </a:lnTo>
                  <a:lnTo>
                    <a:pt x="115044" y="54189"/>
                  </a:lnTo>
                  <a:lnTo>
                    <a:pt x="151863" y="31347"/>
                  </a:lnTo>
                  <a:lnTo>
                    <a:pt x="192181" y="14317"/>
                  </a:lnTo>
                  <a:lnTo>
                    <a:pt x="235420" y="3675"/>
                  </a:lnTo>
                  <a:lnTo>
                    <a:pt x="281000" y="0"/>
                  </a:lnTo>
                  <a:lnTo>
                    <a:pt x="7024687" y="0"/>
                  </a:lnTo>
                  <a:lnTo>
                    <a:pt x="7070269" y="3675"/>
                  </a:lnTo>
                  <a:lnTo>
                    <a:pt x="7113511" y="14317"/>
                  </a:lnTo>
                  <a:lnTo>
                    <a:pt x="7153835" y="31347"/>
                  </a:lnTo>
                  <a:lnTo>
                    <a:pt x="7190661" y="54189"/>
                  </a:lnTo>
                  <a:lnTo>
                    <a:pt x="7223410" y="82264"/>
                  </a:lnTo>
                  <a:lnTo>
                    <a:pt x="7251504" y="114994"/>
                  </a:lnTo>
                  <a:lnTo>
                    <a:pt x="7274363" y="151803"/>
                  </a:lnTo>
                  <a:lnTo>
                    <a:pt x="7291407" y="192113"/>
                  </a:lnTo>
                  <a:lnTo>
                    <a:pt x="7302059" y="235345"/>
                  </a:lnTo>
                  <a:lnTo>
                    <a:pt x="7305738" y="280924"/>
                  </a:lnTo>
                  <a:lnTo>
                    <a:pt x="7305738" y="1404874"/>
                  </a:lnTo>
                  <a:lnTo>
                    <a:pt x="7302059" y="1450455"/>
                  </a:lnTo>
                  <a:lnTo>
                    <a:pt x="7291407" y="1493697"/>
                  </a:lnTo>
                  <a:lnTo>
                    <a:pt x="7274363" y="1534021"/>
                  </a:lnTo>
                  <a:lnTo>
                    <a:pt x="7251504" y="1570847"/>
                  </a:lnTo>
                  <a:lnTo>
                    <a:pt x="7223410" y="1603597"/>
                  </a:lnTo>
                  <a:lnTo>
                    <a:pt x="7190661" y="1631690"/>
                  </a:lnTo>
                  <a:lnTo>
                    <a:pt x="7153835" y="1654549"/>
                  </a:lnTo>
                  <a:lnTo>
                    <a:pt x="7113511" y="1671594"/>
                  </a:lnTo>
                  <a:lnTo>
                    <a:pt x="7070269" y="1682245"/>
                  </a:lnTo>
                  <a:lnTo>
                    <a:pt x="7024687" y="1685925"/>
                  </a:lnTo>
                  <a:lnTo>
                    <a:pt x="281000" y="1685925"/>
                  </a:lnTo>
                  <a:lnTo>
                    <a:pt x="235420" y="1682245"/>
                  </a:lnTo>
                  <a:lnTo>
                    <a:pt x="192181" y="1671594"/>
                  </a:lnTo>
                  <a:lnTo>
                    <a:pt x="151863" y="1654549"/>
                  </a:lnTo>
                  <a:lnTo>
                    <a:pt x="115044" y="1631690"/>
                  </a:lnTo>
                  <a:lnTo>
                    <a:pt x="82302" y="1603597"/>
                  </a:lnTo>
                  <a:lnTo>
                    <a:pt x="54216" y="1570847"/>
                  </a:lnTo>
                  <a:lnTo>
                    <a:pt x="31364" y="1534021"/>
                  </a:lnTo>
                  <a:lnTo>
                    <a:pt x="14325" y="1493697"/>
                  </a:lnTo>
                  <a:lnTo>
                    <a:pt x="3677" y="1450455"/>
                  </a:lnTo>
                  <a:lnTo>
                    <a:pt x="0" y="1404874"/>
                  </a:lnTo>
                  <a:lnTo>
                    <a:pt x="0" y="280924"/>
                  </a:lnTo>
                  <a:close/>
                </a:path>
              </a:pathLst>
            </a:custGeom>
            <a:ln w="12700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89941" y="1212913"/>
            <a:ext cx="12564110" cy="5057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Module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1: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lang="en-US" sz="2400" b="1" spc="-10" dirty="0" smtClean="0">
                <a:latin typeface="Times New Roman"/>
                <a:cs typeface="Times New Roman"/>
              </a:rPr>
              <a:t>Data Collection Module 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Collect sports and athlete dataset.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R="1026794" algn="ctr"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marR="1026794" algn="ctr">
              <a:lnSpc>
                <a:spcPct val="100000"/>
              </a:lnSpc>
            </a:pPr>
            <a:r>
              <a:rPr lang="en-US" sz="2400" b="1" dirty="0" smtClean="0">
                <a:latin typeface="Times New Roman"/>
                <a:cs typeface="Times New Roman"/>
              </a:rPr>
              <a:t>         </a:t>
            </a:r>
            <a:r>
              <a:rPr sz="2400" b="1" dirty="0" smtClean="0">
                <a:latin typeface="Times New Roman"/>
                <a:cs typeface="Times New Roman"/>
              </a:rPr>
              <a:t>Module</a:t>
            </a:r>
            <a:r>
              <a:rPr sz="2400" b="1" spc="-35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dirty="0" smtClean="0">
                <a:latin typeface="Times New Roman"/>
                <a:cs typeface="Times New Roman"/>
              </a:rPr>
              <a:t>:</a:t>
            </a:r>
            <a:r>
              <a:rPr lang="en-US" sz="2400" b="1" dirty="0" smtClean="0">
                <a:latin typeface="Times New Roman"/>
                <a:cs typeface="Times New Roman"/>
              </a:rPr>
              <a:t> DBMS Module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837430" lvl="1" indent="-343535">
              <a:lnSpc>
                <a:spcPct val="100000"/>
              </a:lnSpc>
              <a:buFont typeface="Arial MT"/>
              <a:buChar char="•"/>
              <a:tabLst>
                <a:tab pos="4837430" algn="l"/>
              </a:tabLst>
            </a:pPr>
            <a:r>
              <a:rPr sz="2400" dirty="0">
                <a:latin typeface="Times New Roman"/>
                <a:cs typeface="Times New Roman"/>
              </a:rPr>
              <a:t>MySQL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 smtClean="0">
                <a:latin typeface="Times New Roman"/>
                <a:cs typeface="Times New Roman"/>
              </a:rPr>
              <a:t>Stores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spc="-55" dirty="0" smtClean="0">
                <a:latin typeface="Times New Roman"/>
                <a:cs typeface="Times New Roman"/>
              </a:rPr>
              <a:t>and manage</a:t>
            </a:r>
            <a:r>
              <a:rPr sz="2400" spc="-30" dirty="0" smtClean="0">
                <a:latin typeface="Times New Roman"/>
                <a:cs typeface="Times New Roman"/>
              </a:rPr>
              <a:t> </a:t>
            </a:r>
            <a:r>
              <a:rPr sz="2400" spc="-20" dirty="0" smtClean="0">
                <a:latin typeface="Times New Roman"/>
                <a:cs typeface="Times New Roman"/>
              </a:rPr>
              <a:t>data</a:t>
            </a:r>
            <a:r>
              <a:rPr lang="en-US" sz="2400" spc="-20" dirty="0" smtClean="0">
                <a:latin typeface="Times New Roman"/>
                <a:cs typeface="Times New Roman"/>
              </a:rPr>
              <a:t> in database table.</a:t>
            </a:r>
            <a:endParaRPr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70"/>
              </a:spcBef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619569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Module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</a:t>
            </a:r>
            <a:r>
              <a:rPr sz="2400" b="1" dirty="0" smtClean="0">
                <a:latin typeface="Times New Roman"/>
                <a:cs typeface="Times New Roman"/>
              </a:rPr>
              <a:t>:</a:t>
            </a:r>
            <a:r>
              <a:rPr lang="en-US" sz="2400" b="1" spc="-30" dirty="0">
                <a:latin typeface="Times New Roman"/>
                <a:cs typeface="Times New Roman"/>
              </a:rPr>
              <a:t> </a:t>
            </a:r>
            <a:r>
              <a:rPr lang="en-US" sz="2400" b="1" spc="-30" dirty="0" smtClean="0">
                <a:latin typeface="Times New Roman"/>
                <a:cs typeface="Times New Roman"/>
              </a:rPr>
              <a:t>Data processing &amp; Analysis Module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6538595" lvl="2" indent="-342900">
              <a:lnSpc>
                <a:spcPct val="100000"/>
              </a:lnSpc>
              <a:buFont typeface="Arial MT"/>
              <a:buChar char="•"/>
              <a:tabLst>
                <a:tab pos="6538595" algn="l"/>
              </a:tabLst>
            </a:pPr>
            <a:r>
              <a:rPr sz="2400" dirty="0">
                <a:latin typeface="Times New Roman"/>
                <a:cs typeface="Times New Roman"/>
              </a:rPr>
              <a:t>Python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Analyze sports data using SQL queries.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019" y="6734176"/>
            <a:ext cx="6853306" cy="131292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7772400" y="6889324"/>
            <a:ext cx="716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/>
                <a:cs typeface="Times New Roman"/>
              </a:rPr>
              <a:t>Module</a:t>
            </a:r>
            <a:r>
              <a:rPr lang="en-IN" sz="2400" b="1" spc="-35" dirty="0" smtClean="0">
                <a:latin typeface="Times New Roman"/>
                <a:cs typeface="Times New Roman"/>
              </a:rPr>
              <a:t> </a:t>
            </a:r>
            <a:r>
              <a:rPr lang="en-IN" sz="2400" b="1" dirty="0" smtClean="0">
                <a:latin typeface="Times New Roman"/>
                <a:cs typeface="Times New Roman"/>
              </a:rPr>
              <a:t>4: Visualization / Frontend module</a:t>
            </a:r>
          </a:p>
          <a:p>
            <a:endParaRPr lang="en-US" sz="2400" dirty="0" smtClean="0">
              <a:latin typeface="Times New Roman"/>
              <a:cs typeface="Times New Roman"/>
            </a:endParaRPr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sz="2400" dirty="0" smtClean="0"/>
              <a:t>Display results in dashboard</a:t>
            </a:r>
            <a:r>
              <a:rPr lang="en-US" dirty="0" smtClean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5" name="object 5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25821" y="487362"/>
            <a:ext cx="389318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ANALYSIS</a:t>
            </a:r>
            <a:r>
              <a:rPr spc="-95" dirty="0"/>
              <a:t> </a:t>
            </a:r>
            <a:r>
              <a:rPr dirty="0"/>
              <a:t>OF</a:t>
            </a:r>
            <a:r>
              <a:rPr spc="-200" dirty="0"/>
              <a:t> </a:t>
            </a:r>
            <a:r>
              <a:rPr spc="-65" dirty="0"/>
              <a:t>DATA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6462" y="1692719"/>
            <a:ext cx="4311015" cy="44253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Counting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medals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year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Finding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athletes</a:t>
            </a:r>
            <a:endParaRPr sz="2400">
              <a:latin typeface="Calibri"/>
              <a:cs typeface="Calibri"/>
            </a:endParaRPr>
          </a:p>
          <a:p>
            <a:pPr marL="431800" indent="-41910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431800" algn="l"/>
              </a:tabLst>
            </a:pPr>
            <a:r>
              <a:rPr sz="2400" dirty="0">
                <a:latin typeface="Times New Roman"/>
                <a:cs typeface="Times New Roman"/>
              </a:rPr>
              <a:t>Gender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participants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50" b="1" spc="-10" dirty="0">
                <a:latin typeface="Times New Roman"/>
                <a:cs typeface="Times New Roman"/>
              </a:rPr>
              <a:t>Example: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696595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year,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count(medals)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athlete_events </a:t>
            </a:r>
            <a:r>
              <a:rPr sz="2400" spc="-20" dirty="0">
                <a:latin typeface="Times New Roman"/>
                <a:cs typeface="Times New Roman"/>
              </a:rPr>
              <a:t>GROUP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year;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5" name="object 5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620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IMPLEMENTED</a:t>
            </a:r>
            <a:r>
              <a:rPr spc="-210" dirty="0"/>
              <a:t> </a:t>
            </a:r>
            <a:r>
              <a:rPr spc="-40" dirty="0"/>
              <a:t>ANALYSIS</a:t>
            </a:r>
            <a:r>
              <a:rPr spc="-35" dirty="0"/>
              <a:t> </a:t>
            </a:r>
            <a:r>
              <a:rPr spc="-10" dirty="0"/>
              <a:t>OUTPUT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6462" y="1855406"/>
            <a:ext cx="504063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Counting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medals</a:t>
            </a:r>
            <a:r>
              <a:rPr sz="2750" spc="9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won</a:t>
            </a:r>
            <a:r>
              <a:rPr sz="2750" spc="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each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year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4925" y="2657475"/>
            <a:ext cx="11877675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5" name="object 5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45230" y="362140"/>
            <a:ext cx="7063740" cy="867855"/>
          </a:xfrm>
          <a:prstGeom prst="rect">
            <a:avLst/>
          </a:prstGeom>
        </p:spPr>
        <p:txBody>
          <a:bodyPr vert="horz" wrap="square" lIns="0" tIns="36620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IMPLEMENTED</a:t>
            </a:r>
            <a:r>
              <a:rPr spc="-210" dirty="0"/>
              <a:t> </a:t>
            </a:r>
            <a:r>
              <a:rPr spc="-40" dirty="0"/>
              <a:t>ANALYSIS</a:t>
            </a:r>
            <a:r>
              <a:rPr spc="-35" dirty="0"/>
              <a:t> </a:t>
            </a:r>
            <a:r>
              <a:rPr spc="-10" dirty="0"/>
              <a:t>OUTPUT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82992" y="1415732"/>
            <a:ext cx="330581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Finding</a:t>
            </a:r>
            <a:r>
              <a:rPr sz="2750" spc="1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top</a:t>
            </a:r>
            <a:r>
              <a:rPr sz="2750" spc="12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athletes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125" y="1943100"/>
            <a:ext cx="11877675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5" name="object 5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620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IMPLEMENTED</a:t>
            </a:r>
            <a:r>
              <a:rPr spc="-210" dirty="0"/>
              <a:t> </a:t>
            </a:r>
            <a:r>
              <a:rPr spc="-40" dirty="0"/>
              <a:t>ANALYSIS</a:t>
            </a:r>
            <a:r>
              <a:rPr spc="-35" dirty="0"/>
              <a:t> </a:t>
            </a:r>
            <a:r>
              <a:rPr spc="-10" dirty="0"/>
              <a:t>OUTPUT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82992" y="1415732"/>
            <a:ext cx="354076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2750" dirty="0">
                <a:latin typeface="Times New Roman"/>
                <a:cs typeface="Times New Roman"/>
              </a:rPr>
              <a:t>Gender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8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participants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3050" y="2314575"/>
            <a:ext cx="11544300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3" name="object 3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469900" marR="232410" indent="-457834">
              <a:lnSpc>
                <a:spcPct val="102400"/>
              </a:lnSpc>
              <a:spcBef>
                <a:spcPts val="4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This</a:t>
            </a:r>
            <a:r>
              <a:rPr spc="90" dirty="0"/>
              <a:t> </a:t>
            </a:r>
            <a:r>
              <a:rPr dirty="0"/>
              <a:t>project</a:t>
            </a:r>
            <a:r>
              <a:rPr spc="110" dirty="0"/>
              <a:t> </a:t>
            </a:r>
            <a:r>
              <a:rPr dirty="0"/>
              <a:t>successfully</a:t>
            </a:r>
            <a:r>
              <a:rPr spc="95" dirty="0"/>
              <a:t> </a:t>
            </a:r>
            <a:r>
              <a:rPr dirty="0"/>
              <a:t>demonstrates</a:t>
            </a:r>
            <a:r>
              <a:rPr spc="100" dirty="0"/>
              <a:t> </a:t>
            </a:r>
            <a:r>
              <a:rPr dirty="0"/>
              <a:t>how</a:t>
            </a:r>
            <a:r>
              <a:rPr spc="155" dirty="0"/>
              <a:t> </a:t>
            </a:r>
            <a:r>
              <a:rPr dirty="0"/>
              <a:t>Database</a:t>
            </a:r>
            <a:r>
              <a:rPr spc="100" dirty="0"/>
              <a:t> </a:t>
            </a:r>
            <a:r>
              <a:rPr dirty="0"/>
              <a:t>Management</a:t>
            </a:r>
            <a:r>
              <a:rPr spc="35" dirty="0"/>
              <a:t> </a:t>
            </a:r>
            <a:r>
              <a:rPr dirty="0"/>
              <a:t>Systems</a:t>
            </a:r>
            <a:r>
              <a:rPr spc="100" dirty="0"/>
              <a:t> </a:t>
            </a:r>
            <a:r>
              <a:rPr dirty="0"/>
              <a:t>combined</a:t>
            </a:r>
            <a:r>
              <a:rPr spc="95" dirty="0"/>
              <a:t> </a:t>
            </a:r>
            <a:r>
              <a:rPr spc="-20" dirty="0"/>
              <a:t>with </a:t>
            </a:r>
            <a:r>
              <a:rPr dirty="0"/>
              <a:t>SQL</a:t>
            </a:r>
            <a:r>
              <a:rPr spc="-10" dirty="0"/>
              <a:t> </a:t>
            </a:r>
            <a:r>
              <a:rPr dirty="0"/>
              <a:t>analytics</a:t>
            </a:r>
            <a:r>
              <a:rPr spc="95" dirty="0"/>
              <a:t> </a:t>
            </a:r>
            <a:r>
              <a:rPr dirty="0"/>
              <a:t>can</a:t>
            </a:r>
            <a:r>
              <a:rPr spc="90" dirty="0"/>
              <a:t> </a:t>
            </a:r>
            <a:r>
              <a:rPr dirty="0"/>
              <a:t>be</a:t>
            </a:r>
            <a:r>
              <a:rPr spc="90" dirty="0"/>
              <a:t> </a:t>
            </a:r>
            <a:r>
              <a:rPr dirty="0"/>
              <a:t>used</a:t>
            </a:r>
            <a:r>
              <a:rPr spc="90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dirty="0"/>
              <a:t>extract</a:t>
            </a:r>
            <a:r>
              <a:rPr spc="30" dirty="0"/>
              <a:t> </a:t>
            </a:r>
            <a:r>
              <a:rPr dirty="0"/>
              <a:t>meaningful</a:t>
            </a:r>
            <a:r>
              <a:rPr spc="105" dirty="0"/>
              <a:t> </a:t>
            </a:r>
            <a:r>
              <a:rPr dirty="0"/>
              <a:t>insights</a:t>
            </a:r>
            <a:r>
              <a:rPr spc="90" dirty="0"/>
              <a:t> </a:t>
            </a:r>
            <a:r>
              <a:rPr dirty="0"/>
              <a:t>from</a:t>
            </a:r>
            <a:r>
              <a:rPr spc="60" dirty="0"/>
              <a:t> </a:t>
            </a:r>
            <a:r>
              <a:rPr dirty="0"/>
              <a:t>large-scale</a:t>
            </a:r>
            <a:r>
              <a:rPr spc="95" dirty="0"/>
              <a:t> </a:t>
            </a:r>
            <a:r>
              <a:rPr dirty="0"/>
              <a:t>sports</a:t>
            </a:r>
            <a:r>
              <a:rPr spc="90" dirty="0"/>
              <a:t> </a:t>
            </a:r>
            <a:r>
              <a:rPr spc="-25" dirty="0"/>
              <a:t>and </a:t>
            </a:r>
            <a:r>
              <a:rPr dirty="0"/>
              <a:t>Olympic</a:t>
            </a:r>
            <a:r>
              <a:rPr spc="114" dirty="0"/>
              <a:t> </a:t>
            </a:r>
            <a:r>
              <a:rPr spc="-10" dirty="0"/>
              <a:t>datasets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467995" marR="737235" indent="-455930" algn="just">
              <a:lnSpc>
                <a:spcPct val="102400"/>
              </a:lnSpc>
              <a:spcBef>
                <a:spcPts val="210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The</a:t>
            </a:r>
            <a:r>
              <a:rPr spc="5" dirty="0"/>
              <a:t> </a:t>
            </a:r>
            <a:r>
              <a:rPr dirty="0"/>
              <a:t>integration</a:t>
            </a:r>
            <a:r>
              <a:rPr spc="90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dirty="0"/>
              <a:t>Python</a:t>
            </a:r>
            <a:r>
              <a:rPr spc="90" dirty="0"/>
              <a:t> </a:t>
            </a:r>
            <a:r>
              <a:rPr dirty="0"/>
              <a:t>for</a:t>
            </a:r>
            <a:r>
              <a:rPr spc="100" dirty="0"/>
              <a:t> </a:t>
            </a:r>
            <a:r>
              <a:rPr dirty="0"/>
              <a:t>data</a:t>
            </a:r>
            <a:r>
              <a:rPr spc="95" dirty="0"/>
              <a:t> </a:t>
            </a:r>
            <a:r>
              <a:rPr dirty="0"/>
              <a:t>processing</a:t>
            </a:r>
            <a:r>
              <a:rPr spc="90" dirty="0"/>
              <a:t> </a:t>
            </a:r>
            <a:r>
              <a:rPr dirty="0"/>
              <a:t>and</a:t>
            </a:r>
            <a:r>
              <a:rPr spc="229" dirty="0"/>
              <a:t> </a:t>
            </a:r>
            <a:r>
              <a:rPr dirty="0"/>
              <a:t>Streamlit</a:t>
            </a:r>
            <a:r>
              <a:rPr spc="125" dirty="0"/>
              <a:t> </a:t>
            </a:r>
            <a:r>
              <a:rPr dirty="0"/>
              <a:t>for</a:t>
            </a:r>
            <a:r>
              <a:rPr spc="105" dirty="0"/>
              <a:t> </a:t>
            </a:r>
            <a:r>
              <a:rPr dirty="0"/>
              <a:t>interactive</a:t>
            </a:r>
            <a:r>
              <a:rPr spc="95" dirty="0"/>
              <a:t> </a:t>
            </a:r>
            <a:r>
              <a:rPr spc="-10" dirty="0"/>
              <a:t>visualization 	</a:t>
            </a:r>
            <a:r>
              <a:rPr dirty="0"/>
              <a:t>enhances</a:t>
            </a:r>
            <a:r>
              <a:rPr spc="85" dirty="0"/>
              <a:t> </a:t>
            </a:r>
            <a:r>
              <a:rPr dirty="0"/>
              <a:t>user</a:t>
            </a:r>
            <a:r>
              <a:rPr spc="20" dirty="0"/>
              <a:t> </a:t>
            </a:r>
            <a:r>
              <a:rPr dirty="0"/>
              <a:t>experience</a:t>
            </a:r>
            <a:r>
              <a:rPr spc="95" dirty="0"/>
              <a:t> </a:t>
            </a:r>
            <a:r>
              <a:rPr dirty="0"/>
              <a:t>by</a:t>
            </a:r>
            <a:r>
              <a:rPr spc="90" dirty="0"/>
              <a:t> </a:t>
            </a:r>
            <a:r>
              <a:rPr dirty="0"/>
              <a:t>enabling</a:t>
            </a:r>
            <a:r>
              <a:rPr spc="85" dirty="0"/>
              <a:t> </a:t>
            </a:r>
            <a:r>
              <a:rPr dirty="0"/>
              <a:t>dynamic</a:t>
            </a:r>
            <a:r>
              <a:rPr spc="95" dirty="0"/>
              <a:t> </a:t>
            </a:r>
            <a:r>
              <a:rPr dirty="0"/>
              <a:t>exploration</a:t>
            </a:r>
            <a:r>
              <a:rPr spc="90" dirty="0"/>
              <a:t> </a:t>
            </a:r>
            <a:r>
              <a:rPr dirty="0"/>
              <a:t>of</a:t>
            </a:r>
            <a:r>
              <a:rPr spc="105" dirty="0"/>
              <a:t> </a:t>
            </a:r>
            <a:r>
              <a:rPr dirty="0"/>
              <a:t>sports</a:t>
            </a:r>
            <a:r>
              <a:rPr spc="90" dirty="0"/>
              <a:t> </a:t>
            </a:r>
            <a:r>
              <a:rPr dirty="0"/>
              <a:t>statistics</a:t>
            </a:r>
            <a:r>
              <a:rPr spc="95" dirty="0"/>
              <a:t> </a:t>
            </a:r>
            <a:r>
              <a:rPr dirty="0"/>
              <a:t>instead</a:t>
            </a:r>
            <a:r>
              <a:rPr spc="90" dirty="0"/>
              <a:t> </a:t>
            </a:r>
            <a:r>
              <a:rPr spc="-25" dirty="0"/>
              <a:t>of 	</a:t>
            </a:r>
            <a:r>
              <a:rPr dirty="0"/>
              <a:t>relying</a:t>
            </a:r>
            <a:r>
              <a:rPr spc="75" dirty="0"/>
              <a:t> </a:t>
            </a:r>
            <a:r>
              <a:rPr dirty="0"/>
              <a:t>on</a:t>
            </a:r>
            <a:r>
              <a:rPr spc="80" dirty="0"/>
              <a:t> </a:t>
            </a:r>
            <a:r>
              <a:rPr dirty="0"/>
              <a:t>static</a:t>
            </a:r>
            <a:r>
              <a:rPr spc="80" dirty="0"/>
              <a:t> </a:t>
            </a:r>
            <a:r>
              <a:rPr spc="-10" dirty="0"/>
              <a:t>reports.</a:t>
            </a: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pc="-10" dirty="0"/>
          </a:p>
          <a:p>
            <a:pPr marL="469900" marR="5080" indent="-457834">
              <a:lnSpc>
                <a:spcPct val="102299"/>
              </a:lnSpc>
              <a:buFont typeface="Arial MT"/>
              <a:buChar char="•"/>
              <a:tabLst>
                <a:tab pos="469900" algn="l"/>
              </a:tabLst>
            </a:pPr>
            <a:r>
              <a:rPr dirty="0"/>
              <a:t>Overall,</a:t>
            </a:r>
            <a:r>
              <a:rPr spc="125" dirty="0"/>
              <a:t> </a:t>
            </a:r>
            <a:r>
              <a:rPr dirty="0"/>
              <a:t>this</a:t>
            </a:r>
            <a:r>
              <a:rPr spc="110" dirty="0"/>
              <a:t> </a:t>
            </a:r>
            <a:r>
              <a:rPr dirty="0"/>
              <a:t>project</a:t>
            </a:r>
            <a:r>
              <a:rPr spc="125" dirty="0"/>
              <a:t> </a:t>
            </a:r>
            <a:r>
              <a:rPr dirty="0"/>
              <a:t>highlights</a:t>
            </a:r>
            <a:r>
              <a:rPr spc="110" dirty="0"/>
              <a:t> </a:t>
            </a:r>
            <a:r>
              <a:rPr dirty="0"/>
              <a:t>the</a:t>
            </a:r>
            <a:r>
              <a:rPr spc="110" dirty="0"/>
              <a:t> </a:t>
            </a:r>
            <a:r>
              <a:rPr dirty="0"/>
              <a:t>importance</a:t>
            </a:r>
            <a:r>
              <a:rPr spc="11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data</a:t>
            </a:r>
            <a:r>
              <a:rPr spc="114" dirty="0"/>
              <a:t> </a:t>
            </a:r>
            <a:r>
              <a:rPr dirty="0"/>
              <a:t>normalization,</a:t>
            </a:r>
            <a:r>
              <a:rPr spc="40" dirty="0"/>
              <a:t> </a:t>
            </a:r>
            <a:r>
              <a:rPr dirty="0"/>
              <a:t>query</a:t>
            </a:r>
            <a:r>
              <a:rPr spc="105" dirty="0"/>
              <a:t> </a:t>
            </a:r>
            <a:r>
              <a:rPr dirty="0"/>
              <a:t>optimization,</a:t>
            </a:r>
            <a:r>
              <a:rPr spc="125" dirty="0"/>
              <a:t> </a:t>
            </a:r>
            <a:r>
              <a:rPr spc="-25" dirty="0"/>
              <a:t>and </a:t>
            </a:r>
            <a:r>
              <a:rPr dirty="0"/>
              <a:t>visualization</a:t>
            </a:r>
            <a:r>
              <a:rPr spc="90" dirty="0"/>
              <a:t> </a:t>
            </a:r>
            <a:r>
              <a:rPr dirty="0"/>
              <a:t>in</a:t>
            </a:r>
            <a:r>
              <a:rPr spc="95" dirty="0"/>
              <a:t> </a:t>
            </a:r>
            <a:r>
              <a:rPr dirty="0"/>
              <a:t>sports</a:t>
            </a:r>
            <a:r>
              <a:rPr spc="105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558" rIns="0" bIns="0" rtlCol="0">
            <a:spAutoFit/>
          </a:bodyPr>
          <a:lstStyle/>
          <a:p>
            <a:pPr marL="209042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57150"/>
            <a:ext cx="800100" cy="99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25525" y="9525"/>
            <a:ext cx="904875" cy="9239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847701" y="7761287"/>
            <a:ext cx="1789430" cy="469900"/>
            <a:chOff x="12847701" y="7761287"/>
            <a:chExt cx="1789430" cy="469900"/>
          </a:xfrm>
        </p:grpSpPr>
        <p:sp>
          <p:nvSpPr>
            <p:cNvPr id="5" name="object 5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  <a:lnTo>
                    <a:pt x="1776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54051" y="7767637"/>
              <a:ext cx="1776730" cy="457200"/>
            </a:xfrm>
            <a:custGeom>
              <a:avLst/>
              <a:gdLst/>
              <a:ahLst/>
              <a:cxnLst/>
              <a:rect l="l" t="t" r="r" b="b"/>
              <a:pathLst>
                <a:path w="1776730" h="457200">
                  <a:moveTo>
                    <a:pt x="177634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76349" y="4572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5927" y="1522412"/>
            <a:ext cx="13716635" cy="6071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marR="186690" indent="-343535">
              <a:lnSpc>
                <a:spcPct val="149900"/>
              </a:lnSpc>
              <a:spcBef>
                <a:spcPts val="13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Pers,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J.,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Kovacic,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Vuckovic,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G.,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2005,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September.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amounts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annotated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SQL.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80" dirty="0">
                <a:latin typeface="Times New Roman"/>
                <a:cs typeface="Times New Roman"/>
              </a:rPr>
              <a:t>ISPA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2005.IEEE.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PostgreSQL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Global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Development </a:t>
            </a:r>
            <a:r>
              <a:rPr sz="2400" dirty="0">
                <a:latin typeface="Times New Roman"/>
                <a:cs typeface="Times New Roman"/>
              </a:rPr>
              <a:t>Group.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(2025).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PostgreSQL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16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Documentation.</a:t>
            </a:r>
            <a:endParaRPr sz="2400">
              <a:latin typeface="Times New Roman"/>
              <a:cs typeface="Times New Roman"/>
            </a:endParaRPr>
          </a:p>
          <a:p>
            <a:pPr marL="355600" marR="362585" indent="-343535">
              <a:lnSpc>
                <a:spcPct val="149900"/>
              </a:lnSpc>
              <a:spcBef>
                <a:spcPts val="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Ofoghi,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B.,</a:t>
            </a:r>
            <a:r>
              <a:rPr sz="2400" spc="-10" dirty="0">
                <a:latin typeface="Times New Roman"/>
                <a:cs typeface="Times New Roman"/>
              </a:rPr>
              <a:t> Zeleznikow,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J.,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MacMahon,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Raab,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M.,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2013.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elite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review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framework.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Measurement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Education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Exercise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Science,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17(3),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pp.171-186.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Anderson,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K. </a:t>
            </a:r>
            <a:r>
              <a:rPr sz="2400" spc="-10" dirty="0">
                <a:latin typeface="Times New Roman"/>
                <a:cs typeface="Times New Roman"/>
              </a:rPr>
              <a:t>(2023).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48600"/>
              </a:lnSpc>
              <a:spcBef>
                <a:spcPts val="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Hasan,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I.M.S.,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2021.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DEVELOPMENT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Colloquium-</a:t>
            </a:r>
            <a:r>
              <a:rPr sz="2400" dirty="0">
                <a:latin typeface="Times New Roman"/>
                <a:cs typeface="Times New Roman"/>
              </a:rPr>
              <a:t>journal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(No.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18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(105),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pp.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20-</a:t>
            </a:r>
            <a:r>
              <a:rPr sz="2400" spc="-20" dirty="0">
                <a:latin typeface="Times New Roman"/>
                <a:cs typeface="Times New Roman"/>
              </a:rPr>
              <a:t>33). </a:t>
            </a:r>
            <a:r>
              <a:rPr sz="2400" dirty="0">
                <a:latin typeface="Times New Roman"/>
                <a:cs typeface="Times New Roman"/>
              </a:rPr>
              <a:t>Chen,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(2023).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SQL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Techniques.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Quarterly,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17(1),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23-</a:t>
            </a:r>
            <a:r>
              <a:rPr sz="2400" spc="-25" dirty="0">
                <a:latin typeface="Times New Roman"/>
                <a:cs typeface="Times New Roman"/>
              </a:rPr>
              <a:t>48.</a:t>
            </a:r>
            <a:endParaRPr sz="2400">
              <a:latin typeface="Times New Roman"/>
              <a:cs typeface="Times New Roman"/>
            </a:endParaRPr>
          </a:p>
          <a:p>
            <a:pPr marL="355600" marR="261620" indent="-343535">
              <a:lnSpc>
                <a:spcPct val="1512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Thompson,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Garcia,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(2025).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Sports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Analytics: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Springer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Publishing, New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York.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Brown,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(2024).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Analytics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Workloads.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O'Reilly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Media,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Sebastopol,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CA.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179" rIns="0" bIns="0" rtlCol="0">
            <a:spAutoFit/>
          </a:bodyPr>
          <a:lstStyle/>
          <a:p>
            <a:pPr marL="181737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1665" y="2842514"/>
            <a:ext cx="6782434" cy="1490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600" b="0" spc="305" dirty="0">
                <a:latin typeface="Cambria"/>
                <a:cs typeface="Cambria"/>
              </a:rPr>
              <a:t>THANK</a:t>
            </a:r>
            <a:r>
              <a:rPr sz="9600" b="0" spc="300" dirty="0">
                <a:latin typeface="Cambria"/>
                <a:cs typeface="Cambria"/>
              </a:rPr>
              <a:t> </a:t>
            </a:r>
            <a:r>
              <a:rPr sz="9600" b="0" spc="55" dirty="0">
                <a:latin typeface="Cambria"/>
                <a:cs typeface="Cambria"/>
              </a:rPr>
              <a:t>YOU</a:t>
            </a:r>
            <a:endParaRPr sz="9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668</Words>
  <Application>Microsoft Office PowerPoint</Application>
  <PresentationFormat>Custom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 MT</vt:lpstr>
      <vt:lpstr>Calibri</vt:lpstr>
      <vt:lpstr>Cambria</vt:lpstr>
      <vt:lpstr>Times New Roman</vt:lpstr>
      <vt:lpstr>Wingdings</vt:lpstr>
      <vt:lpstr>Office Theme</vt:lpstr>
      <vt:lpstr>Analysis of Sports Performance and Medal Patterns Using SQL</vt:lpstr>
      <vt:lpstr>PowerPoint Presentation</vt:lpstr>
      <vt:lpstr>ABSTRACT</vt:lpstr>
      <vt:lpstr>INTRODUCTION</vt:lpstr>
      <vt:lpstr>Problem Identification and Analysis</vt:lpstr>
      <vt:lpstr>ER DIAGRAM</vt:lpstr>
      <vt:lpstr>MODULES</vt:lpstr>
      <vt:lpstr>ANALYSIS OF DATA</vt:lpstr>
      <vt:lpstr>IMPLEMENTED ANALYSIS OUTPUT</vt:lpstr>
      <vt:lpstr>IMPLEMENTED ANALYSIS OUTPUT</vt:lpstr>
      <vt:lpstr>IMPLEMENTED ANALYSIS OUTPUT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Sports Performance and Medal Patterns Using SQL</dc:title>
  <cp:lastModifiedBy>Admin</cp:lastModifiedBy>
  <cp:revision>5</cp:revision>
  <dcterms:created xsi:type="dcterms:W3CDTF">2026-03-14T03:28:20Z</dcterms:created>
  <dcterms:modified xsi:type="dcterms:W3CDTF">2026-03-14T04:33:41Z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LastSaved">
    <vt:filetime>2026-03-14T00:00:00Z</vt:filetime>
  </property>
</Properties>
</file>